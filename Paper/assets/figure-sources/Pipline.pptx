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52" userDrawn="1">
          <p15:clr>
            <a:srgbClr val="A4A3A4"/>
          </p15:clr>
        </p15:guide>
        <p15:guide id="2" pos="10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CEFB"/>
    <a:srgbClr val="FABEBD"/>
    <a:srgbClr val="FCE9E5"/>
    <a:srgbClr val="FCC0B8"/>
    <a:srgbClr val="FF0000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0"/>
    <p:restoredTop sz="94670"/>
  </p:normalViewPr>
  <p:slideViewPr>
    <p:cSldViewPr showGuides="1">
      <p:cViewPr>
        <p:scale>
          <a:sx n="73" d="100"/>
          <a:sy n="73" d="100"/>
        </p:scale>
        <p:origin x="2208" y="1040"/>
      </p:cViewPr>
      <p:guideLst>
        <p:guide orient="horz" pos="2652"/>
        <p:guide pos="10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rPr lang="zh-CN" altLang="en-US"/>
              <a:t>2026/7/8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rPr lang="zh-CN" altLang="en-US"/>
              <a:t>2026/7/8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rPr lang="zh-CN" altLang="en-US"/>
              <a:t>2026/7/8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rPr lang="zh-CN" altLang="en-US"/>
              <a:t>2026/7/8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rPr lang="zh-CN" altLang="en-US"/>
              <a:t>2026/7/8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rPr lang="zh-CN" altLang="en-US"/>
              <a:t>2026/7/8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rPr lang="zh-CN" altLang="en-US"/>
              <a:t>2026/7/8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rPr lang="zh-CN" altLang="en-US"/>
              <a:t>2026/7/8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rPr lang="zh-CN" altLang="en-US"/>
              <a:t>2026/7/8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rPr lang="zh-CN" altLang="en-US"/>
              <a:t>2026/7/8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rPr lang="zh-CN" altLang="en-US"/>
              <a:t>2026/7/8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A622DB-A3EB-114D-8382-60113EACD294}" type="datetimeFigureOut">
              <a:rPr lang="zh-CN" altLang="en-US"/>
              <a:t>2026/7/8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A4C96E-7B1F-274A-A082-071ECB08CF3F}" type="slidenum">
              <a:rPr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jpe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jpeg"/><Relationship Id="rId27" Type="http://schemas.openxmlformats.org/officeDocument/2006/relationships/image" Target="../media/image26.png"/><Relationship Id="rId30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D1ED721F-C31D-807F-2B04-A79B1CC66D9A}"/>
              </a:ext>
            </a:extLst>
          </p:cNvPr>
          <p:cNvGrpSpPr/>
          <p:nvPr/>
        </p:nvGrpSpPr>
        <p:grpSpPr>
          <a:xfrm>
            <a:off x="311785" y="675611"/>
            <a:ext cx="11568430" cy="5199380"/>
            <a:chOff x="311785" y="675611"/>
            <a:chExt cx="11568430" cy="5199380"/>
          </a:xfrm>
        </p:grpSpPr>
        <p:sp>
          <p:nvSpPr>
            <p:cNvPr id="67" name="矩形: 圆角 5"/>
            <p:cNvSpPr/>
            <p:nvPr/>
          </p:nvSpPr>
          <p:spPr>
            <a:xfrm>
              <a:off x="7822883" y="4038571"/>
              <a:ext cx="1148080" cy="885190"/>
            </a:xfrm>
            <a:prstGeom prst="roundRect">
              <a:avLst>
                <a:gd name="adj" fmla="val 18696"/>
              </a:avLst>
            </a:prstGeom>
            <a:solidFill>
              <a:srgbClr val="CBCEFB">
                <a:alpha val="40000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MGFE</a:t>
              </a:r>
            </a:p>
          </p:txBody>
        </p:sp>
        <p:sp>
          <p:nvSpPr>
            <p:cNvPr id="63" name="矩形: 圆角 62"/>
            <p:cNvSpPr/>
            <p:nvPr/>
          </p:nvSpPr>
          <p:spPr>
            <a:xfrm rot="16200000">
              <a:off x="5953760" y="1381731"/>
              <a:ext cx="1690370" cy="1325245"/>
            </a:xfrm>
            <a:prstGeom prst="roundRect">
              <a:avLst>
                <a:gd name="adj" fmla="val 6448"/>
              </a:avLst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CN" sz="14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899" name="矩形: 圆角 898"/>
            <p:cNvSpPr>
              <a:spLocks noChangeAspect="1"/>
            </p:cNvSpPr>
            <p:nvPr/>
          </p:nvSpPr>
          <p:spPr>
            <a:xfrm>
              <a:off x="6010910" y="2904461"/>
              <a:ext cx="1583690" cy="358775"/>
            </a:xfrm>
            <a:prstGeom prst="roundRect">
              <a:avLst/>
            </a:prstGeom>
            <a:noFill/>
            <a:ln w="19050"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MambaBlock</a:t>
              </a:r>
            </a:p>
          </p:txBody>
        </p:sp>
        <p:sp>
          <p:nvSpPr>
            <p:cNvPr id="901" name="矩形: 圆角 900"/>
            <p:cNvSpPr/>
            <p:nvPr/>
          </p:nvSpPr>
          <p:spPr>
            <a:xfrm rot="16200000">
              <a:off x="5847080" y="1867506"/>
              <a:ext cx="1367790" cy="360045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SSM</a:t>
              </a:r>
            </a:p>
          </p:txBody>
        </p:sp>
        <p:sp>
          <p:nvSpPr>
            <p:cNvPr id="903" name="矩形: 圆角 902"/>
            <p:cNvSpPr/>
            <p:nvPr/>
          </p:nvSpPr>
          <p:spPr>
            <a:xfrm rot="16200000">
              <a:off x="6386195" y="1867506"/>
              <a:ext cx="1367790" cy="360045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DPB</a:t>
              </a:r>
            </a:p>
          </p:txBody>
        </p:sp>
        <p:sp>
          <p:nvSpPr>
            <p:cNvPr id="905" name="矩形: 圆角 904"/>
            <p:cNvSpPr/>
            <p:nvPr/>
          </p:nvSpPr>
          <p:spPr>
            <a:xfrm rot="16200000">
              <a:off x="5953125" y="3834101"/>
              <a:ext cx="1690370" cy="1325245"/>
            </a:xfrm>
            <a:prstGeom prst="roundRect">
              <a:avLst>
                <a:gd name="adj" fmla="val 6448"/>
              </a:avLst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CN" sz="14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909" name="矩形: 圆角 908"/>
            <p:cNvSpPr>
              <a:spLocks noChangeAspect="1"/>
            </p:cNvSpPr>
            <p:nvPr/>
          </p:nvSpPr>
          <p:spPr>
            <a:xfrm>
              <a:off x="6010910" y="5327621"/>
              <a:ext cx="1583690" cy="360680"/>
            </a:xfrm>
            <a:prstGeom prst="roundRect">
              <a:avLst/>
            </a:prstGeom>
            <a:noFill/>
            <a:ln w="19050"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MambaBlock</a:t>
              </a:r>
            </a:p>
          </p:txBody>
        </p:sp>
        <p:sp>
          <p:nvSpPr>
            <p:cNvPr id="912" name="矩形: 圆角 911"/>
            <p:cNvSpPr/>
            <p:nvPr/>
          </p:nvSpPr>
          <p:spPr>
            <a:xfrm rot="16200000">
              <a:off x="5846445" y="4320511"/>
              <a:ext cx="1367790" cy="360045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SSM</a:t>
              </a:r>
            </a:p>
          </p:txBody>
        </p:sp>
        <p:sp>
          <p:nvSpPr>
            <p:cNvPr id="915" name="矩形: 圆角 914"/>
            <p:cNvSpPr/>
            <p:nvPr/>
          </p:nvSpPr>
          <p:spPr>
            <a:xfrm rot="16200000">
              <a:off x="6385560" y="4320511"/>
              <a:ext cx="1367790" cy="360045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DPB</a:t>
              </a:r>
            </a:p>
          </p:txBody>
        </p:sp>
        <p:sp>
          <p:nvSpPr>
            <p:cNvPr id="35" name="矩形: 圆角 5"/>
            <p:cNvSpPr/>
            <p:nvPr/>
          </p:nvSpPr>
          <p:spPr>
            <a:xfrm>
              <a:off x="7822883" y="1600806"/>
              <a:ext cx="1148080" cy="885190"/>
            </a:xfrm>
            <a:prstGeom prst="roundRect">
              <a:avLst>
                <a:gd name="adj" fmla="val 18696"/>
              </a:avLst>
            </a:prstGeom>
            <a:solidFill>
              <a:srgbClr val="CBCEFB">
                <a:alpha val="40000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MGFE</a:t>
              </a:r>
            </a:p>
          </p:txBody>
        </p:sp>
        <p:cxnSp>
          <p:nvCxnSpPr>
            <p:cNvPr id="40" name="直接箭头连接符 39"/>
            <p:cNvCxnSpPr>
              <a:stCxn id="63" idx="2"/>
              <a:endCxn id="35" idx="1"/>
            </p:cNvCxnSpPr>
            <p:nvPr/>
          </p:nvCxnSpPr>
          <p:spPr>
            <a:xfrm flipV="1">
              <a:off x="7461885" y="2043401"/>
              <a:ext cx="361315" cy="1270"/>
            </a:xfrm>
            <a:prstGeom prst="straightConnector1">
              <a:avLst/>
            </a:prstGeom>
            <a:ln w="19050" cap="flat" cmpd="sng">
              <a:solidFill>
                <a:schemeClr val="tx1"/>
              </a:solidFill>
              <a:prstDash val="solid"/>
              <a:miter lim="800000"/>
              <a:headEnd type="none"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stCxn id="905" idx="2"/>
              <a:endCxn id="67" idx="1"/>
            </p:cNvCxnSpPr>
            <p:nvPr/>
          </p:nvCxnSpPr>
          <p:spPr>
            <a:xfrm flipV="1">
              <a:off x="7461250" y="4481166"/>
              <a:ext cx="36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/>
                <p:cNvSpPr txBox="1"/>
                <p:nvPr/>
              </p:nvSpPr>
              <p:spPr>
                <a:xfrm>
                  <a:off x="5763260" y="1199486"/>
                  <a:ext cx="245110" cy="3079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1400" b="1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𝒃</m:t>
                            </m:r>
                          </m:sub>
                        </m:sSub>
                      </m:oMath>
                    </m:oMathPara>
                  </a14:m>
                  <a:endParaRPr lang="zh-CN" altLang="en-US" sz="1400" b="1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mc:Choice>
          <mc:Fallback>
            <p:sp>
              <p:nvSpPr>
                <p:cNvPr id="51" name="文本框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3260" y="1199486"/>
                  <a:ext cx="245110" cy="307975"/>
                </a:xfrm>
                <a:prstGeom prst="rect">
                  <a:avLst/>
                </a:prstGeom>
                <a:blipFill>
                  <a:blip r:embed="rId2"/>
                  <a:stretch>
                    <a:fillRect l="-238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/>
                <p:cNvSpPr txBox="1"/>
                <p:nvPr/>
              </p:nvSpPr>
              <p:spPr>
                <a:xfrm>
                  <a:off x="5763260" y="3688686"/>
                  <a:ext cx="372110" cy="3251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1400" i="1">
                      <a:latin typeface="Cambria Math" panose="02040503050406030204" pitchFamily="18" charset="0"/>
                      <a:cs typeface="Times New Roman" panose="020205030504050903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>
            <p:sp>
              <p:nvSpPr>
                <p:cNvPr id="52" name="文本框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3260" y="3688686"/>
                  <a:ext cx="372110" cy="325120"/>
                </a:xfrm>
                <a:prstGeom prst="rect">
                  <a:avLst/>
                </a:prstGeom>
                <a:blipFill>
                  <a:blip r:embed="rId3"/>
                  <a:stretch>
                    <a:fillRect b="-384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0" name="矩形: 圆角 129"/>
            <p:cNvSpPr/>
            <p:nvPr/>
          </p:nvSpPr>
          <p:spPr>
            <a:xfrm>
              <a:off x="9274810" y="2556957"/>
              <a:ext cx="720090" cy="1440180"/>
            </a:xfrm>
            <a:prstGeom prst="roundRect">
              <a:avLst>
                <a:gd name="adj" fmla="val 7100"/>
              </a:avLst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Concat</a:t>
              </a:r>
            </a:p>
          </p:txBody>
        </p:sp>
        <p:sp>
          <p:nvSpPr>
            <p:cNvPr id="132" name="矩形: 圆角 131"/>
            <p:cNvSpPr/>
            <p:nvPr/>
          </p:nvSpPr>
          <p:spPr>
            <a:xfrm rot="16200000">
              <a:off x="9796780" y="3097025"/>
              <a:ext cx="1440180" cy="360045"/>
            </a:xfrm>
            <a:prstGeom prst="roundRect">
              <a:avLst>
                <a:gd name="adj" fmla="val 18696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Reconstruction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6" name="文本框 145"/>
                <p:cNvSpPr txBox="1"/>
                <p:nvPr/>
              </p:nvSpPr>
              <p:spPr>
                <a:xfrm>
                  <a:off x="11289665" y="2541876"/>
                  <a:ext cx="396240" cy="3257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  <a:sym typeface="+mn-ea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  <a:sym typeface="+mn-ea"/>
                                  </a:rPr>
                                  <m:t>𝑿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sym typeface="+mn-ea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en-US" altLang="zh-CN" i="1" dirty="0">
                    <a:latin typeface="Cambria Math" panose="02040503050406030204" pitchFamily="18" charset="0"/>
                    <a:sym typeface="+mn-ea"/>
                  </a:endParaRPr>
                </a:p>
              </p:txBody>
            </p:sp>
          </mc:Choice>
          <mc:Fallback>
            <p:sp>
              <p:nvSpPr>
                <p:cNvPr id="146" name="文本框 1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89665" y="2541876"/>
                  <a:ext cx="396240" cy="325755"/>
                </a:xfrm>
                <a:prstGeom prst="rect">
                  <a:avLst/>
                </a:prstGeom>
                <a:blipFill>
                  <a:blip r:embed="rId4"/>
                  <a:stretch>
                    <a:fillRect t="-19231" b="-384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直接箭头连接符 171"/>
            <p:cNvCxnSpPr/>
            <p:nvPr/>
          </p:nvCxnSpPr>
          <p:spPr>
            <a:xfrm>
              <a:off x="9993630" y="3274031"/>
              <a:ext cx="3422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梯形 3"/>
            <p:cNvSpPr/>
            <p:nvPr/>
          </p:nvSpPr>
          <p:spPr>
            <a:xfrm rot="5400000">
              <a:off x="2036445" y="2315816"/>
              <a:ext cx="685800" cy="468630"/>
            </a:xfrm>
            <a:prstGeom prst="trapezoid">
              <a:avLst/>
            </a:prstGeom>
            <a:solidFill>
              <a:schemeClr val="bg1"/>
            </a:solidFill>
            <a:ln w="19050">
              <a:solidFill>
                <a:srgbClr val="246CB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223770" y="2304386"/>
              <a:ext cx="76200" cy="490855"/>
            </a:xfrm>
            <a:prstGeom prst="rect">
              <a:avLst/>
            </a:prstGeom>
            <a:solidFill>
              <a:srgbClr val="0164D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2345690" y="2386936"/>
              <a:ext cx="93345" cy="325755"/>
            </a:xfrm>
            <a:prstGeom prst="rect">
              <a:avLst/>
            </a:prstGeom>
            <a:solidFill>
              <a:srgbClr val="0563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2479040" y="2461866"/>
              <a:ext cx="97790" cy="175895"/>
            </a:xfrm>
            <a:prstGeom prst="rect">
              <a:avLst/>
            </a:prstGeom>
            <a:solidFill>
              <a:srgbClr val="0263D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梯形 17"/>
            <p:cNvSpPr/>
            <p:nvPr/>
          </p:nvSpPr>
          <p:spPr>
            <a:xfrm rot="5400000">
              <a:off x="2037715" y="4767551"/>
              <a:ext cx="685800" cy="468630"/>
            </a:xfrm>
            <a:prstGeom prst="trapezoid">
              <a:avLst/>
            </a:prstGeom>
            <a:solidFill>
              <a:schemeClr val="bg1"/>
            </a:solidFill>
            <a:ln w="19050">
              <a:solidFill>
                <a:srgbClr val="246CB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2223135" y="4756756"/>
              <a:ext cx="76200" cy="490855"/>
            </a:xfrm>
            <a:prstGeom prst="rect">
              <a:avLst/>
            </a:prstGeom>
            <a:solidFill>
              <a:srgbClr val="0164D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2346960" y="4839306"/>
              <a:ext cx="93345" cy="325755"/>
            </a:xfrm>
            <a:prstGeom prst="rect">
              <a:avLst/>
            </a:prstGeom>
            <a:solidFill>
              <a:srgbClr val="0563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2479040" y="4914236"/>
              <a:ext cx="97790" cy="175895"/>
            </a:xfrm>
            <a:prstGeom prst="rect">
              <a:avLst/>
            </a:prstGeom>
            <a:solidFill>
              <a:srgbClr val="0263D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立方体 26"/>
            <p:cNvSpPr>
              <a:spLocks noChangeAspect="1"/>
            </p:cNvSpPr>
            <p:nvPr/>
          </p:nvSpPr>
          <p:spPr>
            <a:xfrm>
              <a:off x="772795" y="990571"/>
              <a:ext cx="855980" cy="647700"/>
            </a:xfrm>
            <a:prstGeom prst="cube">
              <a:avLst>
                <a:gd name="adj" fmla="val 5002"/>
              </a:avLst>
            </a:prstGeom>
            <a:blipFill dpi="0"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立方体 27"/>
            <p:cNvSpPr/>
            <p:nvPr/>
          </p:nvSpPr>
          <p:spPr>
            <a:xfrm>
              <a:off x="1019810" y="1245206"/>
              <a:ext cx="795655" cy="647700"/>
            </a:xfrm>
            <a:prstGeom prst="cube">
              <a:avLst>
                <a:gd name="adj" fmla="val 5002"/>
              </a:avLst>
            </a:prstGeom>
            <a:blipFill dpi="0"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立方体 29"/>
            <p:cNvSpPr>
              <a:spLocks noChangeAspect="1"/>
            </p:cNvSpPr>
            <p:nvPr/>
          </p:nvSpPr>
          <p:spPr>
            <a:xfrm>
              <a:off x="771525" y="3478501"/>
              <a:ext cx="855980" cy="647700"/>
            </a:xfrm>
            <a:prstGeom prst="cube">
              <a:avLst>
                <a:gd name="adj" fmla="val 5002"/>
              </a:avLst>
            </a:prstGeom>
            <a:blipFill dpi="0"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立方体 31"/>
            <p:cNvSpPr>
              <a:spLocks noChangeAspect="1"/>
            </p:cNvSpPr>
            <p:nvPr/>
          </p:nvSpPr>
          <p:spPr>
            <a:xfrm>
              <a:off x="1017905" y="3733136"/>
              <a:ext cx="840740" cy="647700"/>
            </a:xfrm>
            <a:prstGeom prst="cube">
              <a:avLst>
                <a:gd name="adj" fmla="val 5002"/>
              </a:avLst>
            </a:prstGeom>
            <a:blipFill dpi="0"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立方体 32"/>
            <p:cNvSpPr>
              <a:spLocks noChangeAspect="1"/>
            </p:cNvSpPr>
            <p:nvPr/>
          </p:nvSpPr>
          <p:spPr>
            <a:xfrm>
              <a:off x="1012190" y="2217391"/>
              <a:ext cx="840740" cy="647700"/>
            </a:xfrm>
            <a:prstGeom prst="cube">
              <a:avLst>
                <a:gd name="adj" fmla="val 5002"/>
              </a:avLst>
            </a:prstGeom>
            <a:blipFill dpi="0"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立方体 33"/>
            <p:cNvSpPr>
              <a:spLocks noChangeAspect="1"/>
            </p:cNvSpPr>
            <p:nvPr/>
          </p:nvSpPr>
          <p:spPr>
            <a:xfrm>
              <a:off x="1011555" y="4678016"/>
              <a:ext cx="840740" cy="647700"/>
            </a:xfrm>
            <a:prstGeom prst="cube">
              <a:avLst>
                <a:gd name="adj" fmla="val 5002"/>
              </a:avLst>
            </a:prstGeom>
            <a:blipFill dpi="0"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立方体 40"/>
            <p:cNvSpPr>
              <a:spLocks noChangeAspect="1"/>
            </p:cNvSpPr>
            <p:nvPr/>
          </p:nvSpPr>
          <p:spPr>
            <a:xfrm>
              <a:off x="2900680" y="1243936"/>
              <a:ext cx="840740" cy="647700"/>
            </a:xfrm>
            <a:prstGeom prst="cube">
              <a:avLst>
                <a:gd name="adj" fmla="val 5002"/>
              </a:avLst>
            </a:prstGeom>
            <a:blipFill dpi="0"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立方体 41"/>
            <p:cNvSpPr>
              <a:spLocks noChangeAspect="1"/>
            </p:cNvSpPr>
            <p:nvPr/>
          </p:nvSpPr>
          <p:spPr>
            <a:xfrm>
              <a:off x="2901950" y="2216121"/>
              <a:ext cx="840740" cy="647700"/>
            </a:xfrm>
            <a:prstGeom prst="cube">
              <a:avLst>
                <a:gd name="adj" fmla="val 5002"/>
              </a:avLst>
            </a:prstGeom>
            <a:blipFill dpi="0" rotWithShape="1">
              <a:blip r:embed="rId10"/>
              <a:srcRect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立方体 42"/>
            <p:cNvSpPr>
              <a:spLocks noChangeAspect="1"/>
            </p:cNvSpPr>
            <p:nvPr/>
          </p:nvSpPr>
          <p:spPr>
            <a:xfrm>
              <a:off x="2909570" y="3732501"/>
              <a:ext cx="840740" cy="647700"/>
            </a:xfrm>
            <a:prstGeom prst="cube">
              <a:avLst>
                <a:gd name="adj" fmla="val 5002"/>
              </a:avLst>
            </a:prstGeom>
            <a:blipFill dpi="0"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立方体 43"/>
            <p:cNvSpPr>
              <a:spLocks noChangeAspect="1"/>
            </p:cNvSpPr>
            <p:nvPr/>
          </p:nvSpPr>
          <p:spPr>
            <a:xfrm>
              <a:off x="2910840" y="4677381"/>
              <a:ext cx="840740" cy="647700"/>
            </a:xfrm>
            <a:prstGeom prst="cube">
              <a:avLst>
                <a:gd name="adj" fmla="val 5002"/>
              </a:avLst>
            </a:prstGeom>
            <a:blipFill dpi="0" rotWithShape="1">
              <a:blip r:embed="rId12"/>
              <a:srcRect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" name="直接箭头连接符 44"/>
            <p:cNvCxnSpPr/>
            <p:nvPr/>
          </p:nvCxnSpPr>
          <p:spPr>
            <a:xfrm>
              <a:off x="1815465" y="1550641"/>
              <a:ext cx="108267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1697990" y="1265526"/>
              <a:ext cx="1188085" cy="307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Optical Flow</a:t>
              </a:r>
              <a:endParaRPr lang="zh-CN" altLang="en-US" sz="14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740535" y="1497301"/>
              <a:ext cx="1095375" cy="307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100"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</a:lstStyle>
            <a:p>
              <a:r>
                <a:rPr lang="en-US" altLang="zh-CN" sz="1400" dirty="0"/>
                <a:t>Estimation</a:t>
              </a:r>
            </a:p>
          </p:txBody>
        </p:sp>
        <p:cxnSp>
          <p:nvCxnSpPr>
            <p:cNvPr id="55" name="直接箭头连接符 54"/>
            <p:cNvCxnSpPr>
              <a:stCxn id="41" idx="5"/>
            </p:cNvCxnSpPr>
            <p:nvPr/>
          </p:nvCxnSpPr>
          <p:spPr>
            <a:xfrm>
              <a:off x="3741420" y="1551911"/>
              <a:ext cx="3422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>
              <a:endCxn id="4" idx="2"/>
            </p:cNvCxnSpPr>
            <p:nvPr/>
          </p:nvCxnSpPr>
          <p:spPr>
            <a:xfrm>
              <a:off x="1852295" y="2541876"/>
              <a:ext cx="28829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/>
            <p:cNvCxnSpPr/>
            <p:nvPr/>
          </p:nvCxnSpPr>
          <p:spPr>
            <a:xfrm>
              <a:off x="2627630" y="2550131"/>
              <a:ext cx="28829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>
              <a:endCxn id="43" idx="2"/>
            </p:cNvCxnSpPr>
            <p:nvPr/>
          </p:nvCxnSpPr>
          <p:spPr>
            <a:xfrm>
              <a:off x="1845310" y="4057621"/>
              <a:ext cx="106426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文本框 127"/>
            <p:cNvSpPr txBox="1"/>
            <p:nvPr/>
          </p:nvSpPr>
          <p:spPr>
            <a:xfrm>
              <a:off x="1732915" y="3761076"/>
              <a:ext cx="1188085" cy="307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</a:lstStyle>
            <a:p>
              <a:r>
                <a:rPr lang="en-US" altLang="zh-CN" b="0" dirty="0"/>
                <a:t>Optical Flow</a:t>
              </a:r>
              <a:endParaRPr lang="zh-CN" altLang="en-US" b="0" dirty="0"/>
            </a:p>
          </p:txBody>
        </p:sp>
        <p:sp>
          <p:nvSpPr>
            <p:cNvPr id="129" name="文本框 128"/>
            <p:cNvSpPr txBox="1"/>
            <p:nvPr/>
          </p:nvSpPr>
          <p:spPr>
            <a:xfrm>
              <a:off x="1778635" y="4000471"/>
              <a:ext cx="1095375" cy="307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100"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</a:lstStyle>
            <a:p>
              <a:r>
                <a:rPr lang="en-US" altLang="zh-CN" sz="1400" dirty="0"/>
                <a:t>Estimation</a:t>
              </a:r>
            </a:p>
          </p:txBody>
        </p:sp>
        <p:cxnSp>
          <p:nvCxnSpPr>
            <p:cNvPr id="131" name="直接箭头连接符 130"/>
            <p:cNvCxnSpPr>
              <a:stCxn id="34" idx="5"/>
              <a:endCxn id="18" idx="2"/>
            </p:cNvCxnSpPr>
            <p:nvPr/>
          </p:nvCxnSpPr>
          <p:spPr>
            <a:xfrm>
              <a:off x="1852295" y="4985991"/>
              <a:ext cx="28829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箭头连接符 132"/>
            <p:cNvCxnSpPr/>
            <p:nvPr/>
          </p:nvCxnSpPr>
          <p:spPr>
            <a:xfrm>
              <a:off x="2629535" y="5001866"/>
              <a:ext cx="28829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箭头连接符 134"/>
            <p:cNvCxnSpPr/>
            <p:nvPr/>
          </p:nvCxnSpPr>
          <p:spPr>
            <a:xfrm>
              <a:off x="3740150" y="4985356"/>
              <a:ext cx="34353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6" name="文本框 135"/>
                <p:cNvSpPr txBox="1"/>
                <p:nvPr/>
              </p:nvSpPr>
              <p:spPr>
                <a:xfrm>
                  <a:off x="311785" y="1035021"/>
                  <a:ext cx="485775" cy="276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36" name="文本框 1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785" y="1035021"/>
                  <a:ext cx="485775" cy="276860"/>
                </a:xfrm>
                <a:prstGeom prst="rect">
                  <a:avLst/>
                </a:prstGeom>
                <a:blipFill>
                  <a:blip r:embed="rId13"/>
                  <a:stretch>
                    <a:fillRect l="-10256" r="-2564" b="-173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" name="文本框 136"/>
                <p:cNvSpPr txBox="1"/>
                <p:nvPr/>
              </p:nvSpPr>
              <p:spPr>
                <a:xfrm>
                  <a:off x="771525" y="1650971"/>
                  <a:ext cx="266700" cy="276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37" name="文本框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525" y="1650971"/>
                  <a:ext cx="266700" cy="276860"/>
                </a:xfrm>
                <a:prstGeom prst="rect">
                  <a:avLst/>
                </a:prstGeom>
                <a:blipFill>
                  <a:blip r:embed="rId14"/>
                  <a:stretch>
                    <a:fillRect l="-18182" r="-9091" b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8" name="文本框 137"/>
                <p:cNvSpPr txBox="1"/>
                <p:nvPr/>
              </p:nvSpPr>
              <p:spPr>
                <a:xfrm>
                  <a:off x="754380" y="2379316"/>
                  <a:ext cx="266700" cy="276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38" name="文本框 1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380" y="2379316"/>
                  <a:ext cx="266700" cy="276860"/>
                </a:xfrm>
                <a:prstGeom prst="rect">
                  <a:avLst/>
                </a:prstGeom>
                <a:blipFill>
                  <a:blip r:embed="rId15"/>
                  <a:stretch>
                    <a:fillRect l="-18182" r="-4545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9" name="文本框 138"/>
                <p:cNvSpPr txBox="1"/>
                <p:nvPr/>
              </p:nvSpPr>
              <p:spPr>
                <a:xfrm>
                  <a:off x="486410" y="3510886"/>
                  <a:ext cx="266700" cy="276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39" name="文本框 1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410" y="3510886"/>
                  <a:ext cx="266700" cy="276860"/>
                </a:xfrm>
                <a:prstGeom prst="rect">
                  <a:avLst/>
                </a:prstGeom>
                <a:blipFill>
                  <a:blip r:embed="rId15"/>
                  <a:stretch>
                    <a:fillRect l="-18182" r="-4545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2" name="文本框 141"/>
                <p:cNvSpPr txBox="1"/>
                <p:nvPr/>
              </p:nvSpPr>
              <p:spPr>
                <a:xfrm>
                  <a:off x="586105" y="4101436"/>
                  <a:ext cx="486410" cy="276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42" name="文本框 1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105" y="4101436"/>
                  <a:ext cx="486410" cy="276860"/>
                </a:xfrm>
                <a:prstGeom prst="rect">
                  <a:avLst/>
                </a:prstGeom>
                <a:blipFill>
                  <a:blip r:embed="rId16"/>
                  <a:stretch>
                    <a:fillRect l="-10256" r="-2564" b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3" name="文本框 142"/>
                <p:cNvSpPr txBox="1"/>
                <p:nvPr/>
              </p:nvSpPr>
              <p:spPr>
                <a:xfrm>
                  <a:off x="565785" y="4982816"/>
                  <a:ext cx="486410" cy="276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43" name="文本框 1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785" y="4982816"/>
                  <a:ext cx="486410" cy="276860"/>
                </a:xfrm>
                <a:prstGeom prst="rect">
                  <a:avLst/>
                </a:prstGeom>
                <a:blipFill>
                  <a:blip r:embed="rId17"/>
                  <a:stretch>
                    <a:fillRect l="-10000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5" name="文本框 144"/>
            <p:cNvSpPr txBox="1"/>
            <p:nvPr/>
          </p:nvSpPr>
          <p:spPr>
            <a:xfrm>
              <a:off x="2006600" y="2847311"/>
              <a:ext cx="858520" cy="307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Encoder</a:t>
              </a:r>
              <a:endParaRPr lang="zh-CN" altLang="en-US" sz="14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7" name="文本框 146"/>
                <p:cNvSpPr txBox="1"/>
                <p:nvPr/>
              </p:nvSpPr>
              <p:spPr>
                <a:xfrm>
                  <a:off x="2898140" y="952471"/>
                  <a:ext cx="603250" cy="2463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+1→</m:t>
                            </m:r>
                            <m:r>
                              <a:rPr lang="en-US" altLang="zh-CN" sz="1600" b="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147" name="文本框 1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8140" y="952471"/>
                  <a:ext cx="603250" cy="246380"/>
                </a:xfrm>
                <a:prstGeom prst="rect">
                  <a:avLst/>
                </a:prstGeom>
                <a:blipFill>
                  <a:blip r:embed="rId18"/>
                  <a:stretch>
                    <a:fillRect l="-2083"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0" name="文本框 149"/>
                <p:cNvSpPr txBox="1"/>
                <p:nvPr/>
              </p:nvSpPr>
              <p:spPr>
                <a:xfrm>
                  <a:off x="2928620" y="1964026"/>
                  <a:ext cx="202565" cy="2463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150" name="文本框 1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8620" y="1964026"/>
                  <a:ext cx="202565" cy="246380"/>
                </a:xfrm>
                <a:prstGeom prst="rect">
                  <a:avLst/>
                </a:prstGeom>
                <a:blipFill>
                  <a:blip r:embed="rId19"/>
                  <a:stretch>
                    <a:fillRect l="-29412" r="-11765" b="-238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3" name="文本框 152"/>
                <p:cNvSpPr txBox="1"/>
                <p:nvPr/>
              </p:nvSpPr>
              <p:spPr>
                <a:xfrm>
                  <a:off x="2909570" y="3460721"/>
                  <a:ext cx="591820" cy="2463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600" b="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CN" sz="1600" b="0" i="1" dirty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zh-CN" sz="1600" b="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6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53" name="文本框 1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9570" y="3460721"/>
                  <a:ext cx="591820" cy="246380"/>
                </a:xfrm>
                <a:prstGeom prst="rect">
                  <a:avLst/>
                </a:prstGeom>
                <a:blipFill>
                  <a:blip r:embed="rId20"/>
                  <a:stretch>
                    <a:fillRect l="-2083" r="-2083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4" name="文本框 153"/>
                <p:cNvSpPr txBox="1"/>
                <p:nvPr/>
              </p:nvSpPr>
              <p:spPr>
                <a:xfrm>
                  <a:off x="2939415" y="4418301"/>
                  <a:ext cx="387350" cy="2463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600" b="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600" b="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zh-CN" altLang="en-US" sz="16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54" name="文本框 1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9415" y="4418301"/>
                  <a:ext cx="387350" cy="246380"/>
                </a:xfrm>
                <a:prstGeom prst="rect">
                  <a:avLst/>
                </a:prstGeom>
                <a:blipFill>
                  <a:blip r:embed="rId21"/>
                  <a:stretch>
                    <a:fillRect l="-15625" r="-3125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63" name="直接箭头连接符 762"/>
            <p:cNvCxnSpPr/>
            <p:nvPr/>
          </p:nvCxnSpPr>
          <p:spPr>
            <a:xfrm>
              <a:off x="3727450" y="2538701"/>
              <a:ext cx="34099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4" name="文本框 383"/>
            <p:cNvSpPr txBox="1"/>
            <p:nvPr/>
          </p:nvSpPr>
          <p:spPr>
            <a:xfrm>
              <a:off x="2006600" y="5320001"/>
              <a:ext cx="838200" cy="307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Encoder</a:t>
              </a:r>
              <a:endParaRPr lang="zh-CN" altLang="en-US" sz="14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cxnSp>
          <p:nvCxnSpPr>
            <p:cNvPr id="58" name="直接箭头连接符 57"/>
            <p:cNvCxnSpPr/>
            <p:nvPr/>
          </p:nvCxnSpPr>
          <p:spPr>
            <a:xfrm>
              <a:off x="5735955" y="2521556"/>
              <a:ext cx="396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/>
            <p:cNvCxnSpPr>
              <a:stCxn id="165" idx="3"/>
            </p:cNvCxnSpPr>
            <p:nvPr/>
          </p:nvCxnSpPr>
          <p:spPr>
            <a:xfrm flipV="1">
              <a:off x="5735955" y="5001866"/>
              <a:ext cx="396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矩形: 圆角 162"/>
            <p:cNvSpPr/>
            <p:nvPr/>
          </p:nvSpPr>
          <p:spPr>
            <a:xfrm>
              <a:off x="4074160" y="2169131"/>
              <a:ext cx="1661795" cy="720090"/>
            </a:xfrm>
            <a:prstGeom prst="roundRect">
              <a:avLst>
                <a:gd name="adj" fmla="val 18696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Gated DCN Aggregation</a:t>
              </a:r>
            </a:p>
          </p:txBody>
        </p:sp>
        <p:sp>
          <p:nvSpPr>
            <p:cNvPr id="165" name="矩形: 圆角 164"/>
            <p:cNvSpPr/>
            <p:nvPr/>
          </p:nvSpPr>
          <p:spPr>
            <a:xfrm>
              <a:off x="4074160" y="4650076"/>
              <a:ext cx="1661795" cy="720090"/>
            </a:xfrm>
            <a:prstGeom prst="roundRect">
              <a:avLst>
                <a:gd name="adj" fmla="val 18696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Gated DCN Aggregation</a:t>
              </a:r>
            </a:p>
          </p:txBody>
        </p:sp>
        <p:cxnSp>
          <p:nvCxnSpPr>
            <p:cNvPr id="179" name="直接箭头连接符 178"/>
            <p:cNvCxnSpPr>
              <a:stCxn id="6" idx="2"/>
            </p:cNvCxnSpPr>
            <p:nvPr/>
          </p:nvCxnSpPr>
          <p:spPr>
            <a:xfrm>
              <a:off x="5215890" y="1801466"/>
              <a:ext cx="0" cy="3683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箭头连接符 181"/>
            <p:cNvCxnSpPr>
              <a:stCxn id="20" idx="2"/>
            </p:cNvCxnSpPr>
            <p:nvPr/>
          </p:nvCxnSpPr>
          <p:spPr>
            <a:xfrm>
              <a:off x="5215890" y="4289396"/>
              <a:ext cx="0" cy="3606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3" name="立方体 812"/>
            <p:cNvSpPr>
              <a:spLocks noChangeAspect="1"/>
            </p:cNvSpPr>
            <p:nvPr/>
          </p:nvSpPr>
          <p:spPr>
            <a:xfrm>
              <a:off x="11039475" y="2913192"/>
              <a:ext cx="840740" cy="647700"/>
            </a:xfrm>
            <a:prstGeom prst="cube">
              <a:avLst>
                <a:gd name="adj" fmla="val 5002"/>
              </a:avLst>
            </a:prstGeom>
            <a:blipFill dpi="0" rotWithShape="1"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4695825" y="1299816"/>
              <a:ext cx="1040130" cy="501015"/>
            </a:xfrm>
            <a:prstGeom prst="roundRect">
              <a:avLst>
                <a:gd name="adj" fmla="val 18696"/>
              </a:avLst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Residual indicator</a:t>
              </a:r>
            </a:p>
          </p:txBody>
        </p:sp>
        <p:sp>
          <p:nvSpPr>
            <p:cNvPr id="20" name="矩形: 圆角 19"/>
            <p:cNvSpPr/>
            <p:nvPr/>
          </p:nvSpPr>
          <p:spPr>
            <a:xfrm>
              <a:off x="4695825" y="3787746"/>
              <a:ext cx="1040130" cy="501015"/>
            </a:xfrm>
            <a:prstGeom prst="roundRect">
              <a:avLst>
                <a:gd name="adj" fmla="val 18696"/>
              </a:avLst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Residual indicator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51" name="文本框 950"/>
                <p:cNvSpPr txBox="1"/>
                <p:nvPr/>
              </p:nvSpPr>
              <p:spPr>
                <a:xfrm>
                  <a:off x="4883150" y="1800831"/>
                  <a:ext cx="245110" cy="3079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1400" b="1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𝒃</m:t>
                            </m:r>
                          </m:sub>
                        </m:sSub>
                      </m:oMath>
                    </m:oMathPara>
                  </a14:m>
                  <a:endParaRPr lang="zh-CN" altLang="en-US" sz="1400" b="1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mc:Choice>
          <mc:Fallback>
            <p:sp>
              <p:nvSpPr>
                <p:cNvPr id="951" name="文本框 9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3150" y="1800831"/>
                  <a:ext cx="245110" cy="307975"/>
                </a:xfrm>
                <a:prstGeom prst="rect">
                  <a:avLst/>
                </a:prstGeom>
                <a:blipFill>
                  <a:blip r:embed="rId23"/>
                  <a:stretch>
                    <a:fillRect l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52" name="文本框 951"/>
                <p:cNvSpPr txBox="1"/>
                <p:nvPr/>
              </p:nvSpPr>
              <p:spPr>
                <a:xfrm>
                  <a:off x="4843780" y="4275426"/>
                  <a:ext cx="372110" cy="3251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1400" i="1">
                      <a:latin typeface="Cambria Math" panose="02040503050406030204" pitchFamily="18" charset="0"/>
                      <a:cs typeface="Times New Roman" panose="020205030504050903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>
            <p:sp>
              <p:nvSpPr>
                <p:cNvPr id="952" name="文本框 9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3780" y="4275426"/>
                  <a:ext cx="372110" cy="32512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矩形: 圆角 25"/>
                <p:cNvSpPr/>
                <p:nvPr/>
              </p:nvSpPr>
              <p:spPr>
                <a:xfrm>
                  <a:off x="4148455" y="3256886"/>
                  <a:ext cx="255270" cy="325120"/>
                </a:xfrm>
                <a:prstGeom prst="roundRect">
                  <a:avLst>
                    <a:gd name="adj" fmla="val 18696"/>
                  </a:avLst>
                </a:prstGeom>
                <a:noFill/>
                <a:ln w="19050"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1400" i="1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1400" b="0" i="1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𝑖</m:t>
                            </m:r>
                            <m:r>
                              <a:rPr lang="en-US" altLang="zh-CN" sz="1400" b="0" i="1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en-US" altLang="zh-CN" sz="1400" i="1" dirty="0">
                    <a:latin typeface="Cambria Math" panose="02040503050406030204" pitchFamily="18" charset="0"/>
                    <a:cs typeface="Times New Roman" panose="02020503050405090304" pitchFamily="18" charset="0"/>
                  </a:endParaRPr>
                </a:p>
              </p:txBody>
            </p:sp>
          </mc:Choice>
          <mc:Fallback>
            <p:sp>
              <p:nvSpPr>
                <p:cNvPr id="26" name="矩形: 圆角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8455" y="3256886"/>
                  <a:ext cx="255270" cy="325120"/>
                </a:xfrm>
                <a:prstGeom prst="roundRect">
                  <a:avLst>
                    <a:gd name="adj" fmla="val 18696"/>
                  </a:avLst>
                </a:prstGeom>
                <a:blipFill>
                  <a:blip r:embed="rId25"/>
                  <a:stretch>
                    <a:fillRect l="-23810" r="-9524" b="-7407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流程图: 接点 9"/>
            <p:cNvSpPr/>
            <p:nvPr/>
          </p:nvSpPr>
          <p:spPr>
            <a:xfrm>
              <a:off x="4084955" y="1385541"/>
              <a:ext cx="323850" cy="323850"/>
            </a:xfrm>
            <a:prstGeom prst="flowChartConnector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本框 11"/>
                <p:cNvSpPr txBox="1"/>
                <p:nvPr/>
              </p:nvSpPr>
              <p:spPr>
                <a:xfrm>
                  <a:off x="4041776" y="1356966"/>
                  <a:ext cx="368300" cy="4000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" name="文本框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1776" y="1356966"/>
                  <a:ext cx="368300" cy="400050"/>
                </a:xfrm>
                <a:prstGeom prst="rect">
                  <a:avLst/>
                </a:prstGeom>
                <a:blipFill>
                  <a:blip r:embed="rId26"/>
                  <a:stretch>
                    <a:fillRect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E3BF9C0-1549-627B-6233-091DECF08937}"/>
                </a:ext>
              </a:extLst>
            </p:cNvPr>
            <p:cNvGrpSpPr/>
            <p:nvPr/>
          </p:nvGrpSpPr>
          <p:grpSpPr>
            <a:xfrm>
              <a:off x="4046855" y="3875376"/>
              <a:ext cx="368300" cy="400050"/>
              <a:chOff x="3803650" y="4047490"/>
              <a:chExt cx="368300" cy="400050"/>
            </a:xfrm>
          </p:grpSpPr>
          <p:sp>
            <p:nvSpPr>
              <p:cNvPr id="15" name="流程图: 接点 14"/>
              <p:cNvSpPr/>
              <p:nvPr/>
            </p:nvSpPr>
            <p:spPr>
              <a:xfrm>
                <a:off x="3848100" y="4062730"/>
                <a:ext cx="323850" cy="323850"/>
              </a:xfrm>
              <a:prstGeom prst="flowChartConnector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文本框 18"/>
                  <p:cNvSpPr txBox="1"/>
                  <p:nvPr/>
                </p:nvSpPr>
                <p:spPr>
                  <a:xfrm>
                    <a:off x="3803650" y="4047490"/>
                    <a:ext cx="368300" cy="40005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oMath>
                      </m:oMathPara>
                    </a14:m>
                    <a:endParaRPr lang="zh-CN" alt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9" name="文本框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03650" y="4047490"/>
                    <a:ext cx="368300" cy="400050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r="-1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8" name="直接箭头连接符 37"/>
            <p:cNvCxnSpPr/>
            <p:nvPr/>
          </p:nvCxnSpPr>
          <p:spPr>
            <a:xfrm flipV="1">
              <a:off x="4404995" y="1556991"/>
              <a:ext cx="28829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6" name="直接箭头连接符 905"/>
            <p:cNvCxnSpPr/>
            <p:nvPr/>
          </p:nvCxnSpPr>
          <p:spPr>
            <a:xfrm>
              <a:off x="3750310" y="4056351"/>
              <a:ext cx="3422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直接箭头连接符 906"/>
            <p:cNvCxnSpPr/>
            <p:nvPr/>
          </p:nvCxnSpPr>
          <p:spPr>
            <a:xfrm flipV="1">
              <a:off x="4407535" y="4052541"/>
              <a:ext cx="28829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直接箭头连接符 935"/>
            <p:cNvCxnSpPr/>
            <p:nvPr/>
          </p:nvCxnSpPr>
          <p:spPr>
            <a:xfrm>
              <a:off x="4490085" y="4101436"/>
              <a:ext cx="0" cy="54038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直接连接符 938"/>
            <p:cNvCxnSpPr/>
            <p:nvPr/>
          </p:nvCxnSpPr>
          <p:spPr>
            <a:xfrm>
              <a:off x="4490085" y="2889221"/>
              <a:ext cx="0" cy="11049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950" name="组合 949"/>
            <p:cNvGrpSpPr/>
            <p:nvPr/>
          </p:nvGrpSpPr>
          <p:grpSpPr>
            <a:xfrm>
              <a:off x="4422140" y="3983326"/>
              <a:ext cx="125730" cy="125730"/>
              <a:chOff x="3861619" y="419019"/>
              <a:chExt cx="182459" cy="180000"/>
            </a:xfrm>
          </p:grpSpPr>
          <p:sp>
            <p:nvSpPr>
              <p:cNvPr id="948" name="弧形 947"/>
              <p:cNvSpPr/>
              <p:nvPr/>
            </p:nvSpPr>
            <p:spPr>
              <a:xfrm>
                <a:off x="3864078" y="419019"/>
                <a:ext cx="180000" cy="1800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9" name="弧形 948"/>
              <p:cNvSpPr/>
              <p:nvPr/>
            </p:nvSpPr>
            <p:spPr>
              <a:xfrm rot="5400000">
                <a:off x="3861619" y="419019"/>
                <a:ext cx="180000" cy="1800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955" name="直接连接符 954"/>
            <p:cNvCxnSpPr/>
            <p:nvPr/>
          </p:nvCxnSpPr>
          <p:spPr>
            <a:xfrm>
              <a:off x="4474210" y="727681"/>
              <a:ext cx="0" cy="7569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956" name="组合 955"/>
            <p:cNvGrpSpPr/>
            <p:nvPr/>
          </p:nvGrpSpPr>
          <p:grpSpPr>
            <a:xfrm>
              <a:off x="4406265" y="1487141"/>
              <a:ext cx="125730" cy="125730"/>
              <a:chOff x="3861619" y="419019"/>
              <a:chExt cx="182459" cy="180000"/>
            </a:xfrm>
          </p:grpSpPr>
          <p:sp>
            <p:nvSpPr>
              <p:cNvPr id="957" name="弧形 956"/>
              <p:cNvSpPr/>
              <p:nvPr/>
            </p:nvSpPr>
            <p:spPr>
              <a:xfrm>
                <a:off x="3864078" y="419019"/>
                <a:ext cx="180000" cy="1800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8" name="弧形 957"/>
              <p:cNvSpPr/>
              <p:nvPr/>
            </p:nvSpPr>
            <p:spPr>
              <a:xfrm rot="5400000">
                <a:off x="3861619" y="419019"/>
                <a:ext cx="180000" cy="1800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55" name="直接箭头连接符 154"/>
            <p:cNvCxnSpPr/>
            <p:nvPr/>
          </p:nvCxnSpPr>
          <p:spPr>
            <a:xfrm>
              <a:off x="4472940" y="1621761"/>
              <a:ext cx="0" cy="55816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8" name="矩形: 圆角 157"/>
                <p:cNvSpPr/>
                <p:nvPr/>
              </p:nvSpPr>
              <p:spPr>
                <a:xfrm>
                  <a:off x="3950970" y="675611"/>
                  <a:ext cx="452755" cy="325120"/>
                </a:xfrm>
                <a:prstGeom prst="roundRect">
                  <a:avLst>
                    <a:gd name="adj" fmla="val 18696"/>
                  </a:avLst>
                </a:prstGeom>
                <a:noFill/>
                <a:ln w="19050"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140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1400" b="0" i="1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𝑖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−1</m:t>
                            </m:r>
                            <m:r>
                              <a:rPr lang="en-US" altLang="zh-CN" sz="1400" b="0" i="1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en-US" altLang="zh-CN" sz="1400" i="1" dirty="0">
                    <a:latin typeface="Cambria Math" panose="02040503050406030204" pitchFamily="18" charset="0"/>
                    <a:cs typeface="Times New Roman" panose="02020503050405090304" pitchFamily="18" charset="0"/>
                  </a:endParaRPr>
                </a:p>
              </p:txBody>
            </p:sp>
          </mc:Choice>
          <mc:Fallback>
            <p:sp>
              <p:nvSpPr>
                <p:cNvPr id="158" name="矩形: 圆角 1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0970" y="675611"/>
                  <a:ext cx="452755" cy="325120"/>
                </a:xfrm>
                <a:prstGeom prst="roundRect">
                  <a:avLst>
                    <a:gd name="adj" fmla="val 18696"/>
                  </a:avLst>
                </a:prstGeom>
                <a:blipFill>
                  <a:blip r:embed="rId28"/>
                  <a:stretch>
                    <a:fillRect l="-11111" r="-2778" b="-11538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0" name="直接箭头连接符 159"/>
            <p:cNvCxnSpPr/>
            <p:nvPr/>
          </p:nvCxnSpPr>
          <p:spPr>
            <a:xfrm>
              <a:off x="4505325" y="5370166"/>
              <a:ext cx="0" cy="5048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1" name="矩形: 圆角 160"/>
                <p:cNvSpPr/>
                <p:nvPr/>
              </p:nvSpPr>
              <p:spPr>
                <a:xfrm>
                  <a:off x="3989705" y="5440651"/>
                  <a:ext cx="452755" cy="325120"/>
                </a:xfrm>
                <a:prstGeom prst="roundRect">
                  <a:avLst>
                    <a:gd name="adj" fmla="val 18696"/>
                  </a:avLst>
                </a:prstGeom>
                <a:noFill/>
                <a:ln w="19050"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140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1400" b="0" i="1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𝑖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+1</m:t>
                            </m:r>
                            <m:r>
                              <a:rPr lang="en-US" altLang="zh-CN" sz="1400" b="0" i="1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en-US" altLang="zh-CN" sz="1400" i="1" dirty="0">
                    <a:latin typeface="Cambria Math" panose="02040503050406030204" pitchFamily="18" charset="0"/>
                    <a:cs typeface="Times New Roman" panose="02020503050405090304" pitchFamily="18" charset="0"/>
                  </a:endParaRPr>
                </a:p>
              </p:txBody>
            </p:sp>
          </mc:Choice>
          <mc:Fallback>
            <p:sp>
              <p:nvSpPr>
                <p:cNvPr id="161" name="矩形: 圆角 16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9705" y="5440651"/>
                  <a:ext cx="452755" cy="325120"/>
                </a:xfrm>
                <a:prstGeom prst="roundRect">
                  <a:avLst>
                    <a:gd name="adj" fmla="val 18696"/>
                  </a:avLst>
                </a:prstGeom>
                <a:blipFill>
                  <a:blip r:embed="rId29"/>
                  <a:stretch>
                    <a:fillRect l="-8108" r="-2703" b="-7407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8" name="直接箭头连接符 167"/>
            <p:cNvCxnSpPr>
              <a:stCxn id="6" idx="3"/>
            </p:cNvCxnSpPr>
            <p:nvPr/>
          </p:nvCxnSpPr>
          <p:spPr>
            <a:xfrm>
              <a:off x="5735955" y="1550641"/>
              <a:ext cx="396000" cy="0"/>
            </a:xfrm>
            <a:prstGeom prst="straightConnector1">
              <a:avLst/>
            </a:prstGeom>
            <a:ln w="19050">
              <a:solidFill>
                <a:schemeClr val="tx1">
                  <a:alpha val="94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箭头连接符 172"/>
            <p:cNvCxnSpPr>
              <a:stCxn id="20" idx="3"/>
            </p:cNvCxnSpPr>
            <p:nvPr/>
          </p:nvCxnSpPr>
          <p:spPr>
            <a:xfrm flipV="1">
              <a:off x="5735955" y="4037301"/>
              <a:ext cx="396000" cy="12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肘形连接符 48"/>
            <p:cNvCxnSpPr>
              <a:stCxn id="35" idx="3"/>
              <a:endCxn id="130" idx="0"/>
            </p:cNvCxnSpPr>
            <p:nvPr/>
          </p:nvCxnSpPr>
          <p:spPr>
            <a:xfrm>
              <a:off x="8971280" y="2043401"/>
              <a:ext cx="663575" cy="513715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肘形连接符 49"/>
            <p:cNvCxnSpPr>
              <a:stCxn id="67" idx="3"/>
              <a:endCxn id="130" idx="2"/>
            </p:cNvCxnSpPr>
            <p:nvPr/>
          </p:nvCxnSpPr>
          <p:spPr>
            <a:xfrm flipV="1">
              <a:off x="8971280" y="3997296"/>
              <a:ext cx="663575" cy="483870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>
              <a:stCxn id="132" idx="2"/>
              <a:endCxn id="813" idx="2"/>
            </p:cNvCxnSpPr>
            <p:nvPr/>
          </p:nvCxnSpPr>
          <p:spPr>
            <a:xfrm flipV="1">
              <a:off x="10697210" y="3253711"/>
              <a:ext cx="34226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矩形: 圆角 19"/>
            <p:cNvSpPr/>
            <p:nvPr/>
          </p:nvSpPr>
          <p:spPr>
            <a:xfrm>
              <a:off x="7876858" y="3040986"/>
              <a:ext cx="1040130" cy="501015"/>
            </a:xfrm>
            <a:prstGeom prst="roundRect">
              <a:avLst>
                <a:gd name="adj" fmla="val 18696"/>
              </a:avLst>
            </a:prstGeom>
            <a:solidFill>
              <a:srgbClr val="FCE9E5">
                <a:alpha val="40000"/>
              </a:srgbClr>
            </a:solidFill>
            <a:ln w="28575" cmpd="sng">
              <a:solidFill>
                <a:srgbClr val="FCC0B8"/>
              </a:solidFill>
              <a:prstDash val="sys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RATR</a:t>
              </a:r>
            </a:p>
          </p:txBody>
        </p:sp>
        <p:cxnSp>
          <p:nvCxnSpPr>
            <p:cNvPr id="69" name="直接箭头连接符 68"/>
            <p:cNvCxnSpPr>
              <a:stCxn id="35" idx="2"/>
              <a:endCxn id="68" idx="0"/>
            </p:cNvCxnSpPr>
            <p:nvPr/>
          </p:nvCxnSpPr>
          <p:spPr>
            <a:xfrm>
              <a:off x="8397240" y="2485996"/>
              <a:ext cx="0" cy="554990"/>
            </a:xfrm>
            <a:prstGeom prst="straightConnector1">
              <a:avLst/>
            </a:prstGeom>
            <a:ln>
              <a:solidFill>
                <a:srgbClr val="FABEBD"/>
              </a:solidFill>
              <a:prstDash val="dash"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>
              <a:stCxn id="67" idx="0"/>
              <a:endCxn id="68" idx="2"/>
            </p:cNvCxnSpPr>
            <p:nvPr/>
          </p:nvCxnSpPr>
          <p:spPr>
            <a:xfrm flipV="1">
              <a:off x="8397240" y="3542001"/>
              <a:ext cx="0" cy="496570"/>
            </a:xfrm>
            <a:prstGeom prst="straightConnector1">
              <a:avLst/>
            </a:prstGeom>
            <a:ln>
              <a:solidFill>
                <a:srgbClr val="FABEBD"/>
              </a:solidFill>
              <a:prstDash val="dash"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圆角矩形 1">
              <a:extLst>
                <a:ext uri="{FF2B5EF4-FFF2-40B4-BE49-F238E27FC236}">
                  <a16:creationId xmlns:a16="http://schemas.microsoft.com/office/drawing/2014/main" id="{0AC2D1A7-1F20-53B2-36FE-37F93B91D419}"/>
                </a:ext>
              </a:extLst>
            </p:cNvPr>
            <p:cNvSpPr/>
            <p:nvPr/>
          </p:nvSpPr>
          <p:spPr>
            <a:xfrm>
              <a:off x="9779998" y="5035238"/>
              <a:ext cx="1886586" cy="493002"/>
            </a:xfrm>
            <a:prstGeom prst="roundRect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83FAF0C2-7016-D837-FA8D-5572EB0EFEF9}"/>
                </a:ext>
              </a:extLst>
            </p:cNvPr>
            <p:cNvGrpSpPr/>
            <p:nvPr/>
          </p:nvGrpSpPr>
          <p:grpSpPr>
            <a:xfrm>
              <a:off x="9845040" y="5129277"/>
              <a:ext cx="368300" cy="400050"/>
              <a:chOff x="3803650" y="4047490"/>
              <a:chExt cx="368300" cy="400050"/>
            </a:xfrm>
          </p:grpSpPr>
          <p:sp>
            <p:nvSpPr>
              <p:cNvPr id="9" name="流程图: 接点 14">
                <a:extLst>
                  <a:ext uri="{FF2B5EF4-FFF2-40B4-BE49-F238E27FC236}">
                    <a16:creationId xmlns:a16="http://schemas.microsoft.com/office/drawing/2014/main" id="{A01D6124-1C30-76F5-5BEC-6AF19AC0F3DD}"/>
                  </a:ext>
                </a:extLst>
              </p:cNvPr>
              <p:cNvSpPr/>
              <p:nvPr/>
            </p:nvSpPr>
            <p:spPr>
              <a:xfrm>
                <a:off x="3848100" y="4062730"/>
                <a:ext cx="323850" cy="323850"/>
              </a:xfrm>
              <a:prstGeom prst="flowChartConnector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id="{5209BC43-D156-E2F8-C246-5923BAE885C6}"/>
                      </a:ext>
                    </a:extLst>
                  </p:cNvPr>
                  <p:cNvSpPr txBox="1"/>
                  <p:nvPr/>
                </p:nvSpPr>
                <p:spPr>
                  <a:xfrm>
                    <a:off x="3803650" y="4047490"/>
                    <a:ext cx="368300" cy="40005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oMath>
                      </m:oMathPara>
                    </a14:m>
                    <a:endParaRPr lang="zh-CN" alt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id="{5209BC43-D156-E2F8-C246-5923BAE885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03650" y="4047490"/>
                    <a:ext cx="368300" cy="400050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r="-1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DA85F50-4C75-8764-902C-BA01BA550AD8}"/>
                </a:ext>
              </a:extLst>
            </p:cNvPr>
            <p:cNvSpPr txBox="1"/>
            <p:nvPr/>
          </p:nvSpPr>
          <p:spPr>
            <a:xfrm>
              <a:off x="10389235" y="5129277"/>
              <a:ext cx="12408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Flow</a:t>
              </a:r>
              <a:r>
                <a:rPr kumimoji="1" lang="zh-CN" alt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Warp</a:t>
              </a:r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</Words>
  <Application>Microsoft Macintosh PowerPoint</Application>
  <PresentationFormat>宽屏</PresentationFormat>
  <Paragraphs>43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a1468</dc:creator>
  <cp:lastModifiedBy>非凡 蔡</cp:lastModifiedBy>
  <cp:revision>10</cp:revision>
  <dcterms:created xsi:type="dcterms:W3CDTF">2026-07-06T07:21:46Z</dcterms:created>
  <dcterms:modified xsi:type="dcterms:W3CDTF">2026-07-08T07:07:39Z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F1585FAD1DB9EFF88A574B6A8918B110_42</vt:lpwstr>
  </property>
</Properties>
</file>